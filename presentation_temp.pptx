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64" r:id="rId3"/>
    <p:sldId id="257" r:id="rId4"/>
    <p:sldId id="258" r:id="rId5"/>
    <p:sldId id="262" r:id="rId6"/>
    <p:sldId id="260" r:id="rId7"/>
    <p:sldId id="265" r:id="rId8"/>
    <p:sldId id="266" r:id="rId9"/>
    <p:sldId id="267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9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B9D45-DCFD-684B-1B68-D985BF5F2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5C2A9-CF86-E6C1-BE4F-5B9DCF6A6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960B7-C7E7-E3AC-F158-97DDA6270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2BB16-D301-45B9-87C8-4A6020EEFBE3}" type="datetimeFigureOut">
              <a:rPr lang="en-US" smtClean="0"/>
              <a:t>16-May-26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AD7EA-5247-FE2A-036B-024419209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1A258-DFD7-B9D7-A00A-A6568D98F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A9D1-4A45-42F2-AFC2-068EA053F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627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72648-232D-C2FF-3D8C-0F12445F4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21190-AD3B-1A09-1F12-90FDCBE23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E5296-BFE6-A080-90BC-1323C9F26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2BB16-D301-45B9-87C8-4A6020EEFBE3}" type="datetimeFigureOut">
              <a:rPr lang="en-US" smtClean="0"/>
              <a:t>16-May-26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FF0DC-3690-9DBE-F623-06739BB06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D5F2C-29F9-49DD-0A1F-389AEDCA9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A9D1-4A45-42F2-AFC2-068EA053F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959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0DB92-CB6E-1498-F4C0-5808CA016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86FE2-B847-BAF3-DFDE-F3AC76055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51387-6070-C656-58AB-8F2C2FD1E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2BB16-D301-45B9-87C8-4A6020EEFBE3}" type="datetimeFigureOut">
              <a:rPr lang="en-US" smtClean="0"/>
              <a:t>16-May-26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E3405-3AC3-20CA-0266-4A8F067E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67809-E0D8-94B9-B4C3-909F488EF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A9D1-4A45-42F2-AFC2-068EA053F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63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A5E1D-06E1-1E1A-39FE-5E793F3A9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C8A98-2AED-ABE0-6D48-98B891A7E0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EF0DB8-6DDE-5B95-AA98-799C3F9DB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2F8A99-E7CA-F33A-69BF-CDB459AE8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2BB16-D301-45B9-87C8-4A6020EEFBE3}" type="datetimeFigureOut">
              <a:rPr lang="en-US" smtClean="0"/>
              <a:t>16-May-26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B7184F-15EA-1EAF-34C9-ECEEC91FF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FD6C0-5A94-4534-A40C-39F300BF5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A9D1-4A45-42F2-AFC2-068EA053F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53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47D30-6C35-499F-CEB4-6567F71C1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9148F-2F28-C4D7-689B-1633D4C67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38265-56DF-F62A-C77F-75030725F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CCB029-0620-2AFA-6911-EADC10910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100EC0-9856-FEDC-6BBA-2BE651C6D2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B49892-865D-42C9-5AA8-00069DD4E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2BB16-D301-45B9-87C8-4A6020EEFBE3}" type="datetimeFigureOut">
              <a:rPr lang="en-US" smtClean="0"/>
              <a:t>16-May-26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619FA1-310A-5EA6-AF6D-8B7285114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D1316E-19D5-2489-85CD-225BAE557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A9D1-4A45-42F2-AFC2-068EA053F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208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53732-C878-3C9F-42DF-8748D9C94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093795-0606-971A-46C7-DECF52BA5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2BB16-D301-45B9-87C8-4A6020EEFBE3}" type="datetimeFigureOut">
              <a:rPr lang="en-US" smtClean="0"/>
              <a:t>16-May-26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CB139A-B59F-D137-B06E-84B5EB4F3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46565E-39BE-1A53-59F7-07F5A7309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A9D1-4A45-42F2-AFC2-068EA053F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875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363C53-18C5-D50D-6452-1C0E27AC9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2BB16-D301-45B9-87C8-4A6020EEFBE3}" type="datetimeFigureOut">
              <a:rPr lang="en-US" smtClean="0"/>
              <a:t>16-May-26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8CDC59-EC8B-A1D7-EDD4-7DC92FBEF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C752D-EA84-FB86-029A-5F5B64FB4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A9D1-4A45-42F2-AFC2-068EA053F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87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64B4A-A22D-175C-D2CD-CFF4DDB10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4C4F2-0418-8234-BF6B-9F179568E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56565-638C-BED9-FEBB-0DCF2FBCB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5AD16-881F-B655-4662-7DD7E2C8B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2BB16-D301-45B9-87C8-4A6020EEFBE3}" type="datetimeFigureOut">
              <a:rPr lang="en-US" smtClean="0"/>
              <a:t>16-May-26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3C81B-10A5-A58C-56A1-5FB8BB79E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0A16B-A773-DAAF-1F26-838874BB3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A9D1-4A45-42F2-AFC2-068EA053F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87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53814-321D-35A9-0FC2-467F2956B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B971AB-1E1B-7753-B690-5318AE80E5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74A1A4-B351-1048-7F57-913BE83AC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3B913-66E3-FB46-90DE-99A0D8525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2BB16-D301-45B9-87C8-4A6020EEFBE3}" type="datetimeFigureOut">
              <a:rPr lang="en-US" smtClean="0"/>
              <a:t>16-May-26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2BC382-2F96-E1BD-F378-B9AA60E8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A4DBAE-5153-4B13-ACC2-BBD42E48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A9D1-4A45-42F2-AFC2-068EA053F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28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ECBD6-863B-3510-D023-FD7B4BCA9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509732-ABF2-C010-578B-A6A53A0A0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D7666-C31D-CCF6-4BB4-709938B3C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2BB16-D301-45B9-87C8-4A6020EEFBE3}" type="datetimeFigureOut">
              <a:rPr lang="en-US" smtClean="0"/>
              <a:t>16-May-26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F9F21-6FE0-1F64-9564-370DDA25A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614BD-DA06-DC4B-DB08-24729212B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A9D1-4A45-42F2-AFC2-068EA053F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446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DC1EEA-DC52-76AC-63A4-AA4A45D65D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453319-2A86-B9A0-D85A-EF4B35B6B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E24FA-FB2E-9DFD-5BBE-C4BEDCD2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2BB16-D301-45B9-87C8-4A6020EEFBE3}" type="datetimeFigureOut">
              <a:rPr lang="en-US" smtClean="0"/>
              <a:t>16-May-26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01133-5ACB-9CA2-7358-767AB9F89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AB759-1A35-17CA-80A0-6576E8DF5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A9D1-4A45-42F2-AFC2-068EA053F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49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CE5BD3-BD82-9F6D-B7EE-1C49DEAD3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601C3-493A-1A12-FBAF-3EECD4E2B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48287-49BF-0478-998F-273C78037D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2BB16-D301-45B9-87C8-4A6020EEFBE3}" type="datetimeFigureOut">
              <a:rPr lang="en-US" smtClean="0"/>
              <a:t>16-May-26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85182-53DB-3A53-B8AB-E0291DCDB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C78BF-58AF-F7CB-862B-86BE38D4B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9BA9D1-4A45-42F2-AFC2-068EA053F3B6}" type="slidenum">
              <a:rPr lang="en-US" smtClean="0"/>
              <a:t>‹#›</a:t>
            </a:fld>
            <a:endParaRPr lang="en-US"/>
          </a:p>
        </p:txBody>
      </p:sp>
      <p:sp>
        <p:nvSpPr>
          <p:cNvPr id="9001" name="AccentBar"/>
          <p:cNvSpPr/>
          <p:nvPr userDrawn="1"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59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B4F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F2A44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F2A44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F2A44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F2A44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F2A4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F2A44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F2A44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F2A44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F2A44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exveider1/soa_hackath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7771D-5E7B-DAF8-1DAD-552E309375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School of Analytics 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C8A007-9D9C-FB73-4DE8-5B5C61E4E5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Промежуточное решение хакатона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42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FC6E2-844F-CE33-AEFE-3C9AD83BD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Планируемые результаты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4F0AE-DAC5-3110-4E4D-4684CCA50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Составили план решения задач</a:t>
            </a:r>
            <a:r>
              <a:rPr lang="en-US" dirty="0"/>
              <a:t> 1,2,4 + </a:t>
            </a:r>
            <a:r>
              <a:rPr lang="ru-RU" dirty="0"/>
              <a:t>бонусная</a:t>
            </a:r>
          </a:p>
          <a:p>
            <a:r>
              <a:rPr lang="ru-RU" dirty="0"/>
              <a:t>Решили задачу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806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F63E5-2D79-7D5E-8397-16B330C45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6575D-867B-C62B-6850-15FC8CBF1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Задача 1: Кластеризация треков по музыкальному настроению 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b="1" dirty="0"/>
              <a:t>Разведочный анализ (EDA) и проверка гипотез:</a:t>
            </a:r>
            <a:r>
              <a:rPr lang="ru-RU" dirty="0"/>
              <a:t> проанализировать временные паттерны прослушивания музыки</a:t>
            </a:r>
            <a:endParaRPr lang="en-US" dirty="0"/>
          </a:p>
          <a:p>
            <a:r>
              <a:rPr lang="ru-RU" b="1" dirty="0"/>
              <a:t>Построение модели кластеризации:</a:t>
            </a:r>
            <a:r>
              <a:rPr lang="ru-RU" dirty="0"/>
              <a:t> Применить K-Means или UMAP , для сегментации песен на группы по настроениям вместо классических жанров. </a:t>
            </a:r>
          </a:p>
          <a:p>
            <a:r>
              <a:rPr lang="ru-RU" b="1" dirty="0"/>
              <a:t>Визуализация результатов:</a:t>
            </a:r>
            <a:r>
              <a:rPr lang="ru-RU" dirty="0"/>
              <a:t> Построить тепловые карты по жанрам и</a:t>
            </a:r>
          </a:p>
          <a:p>
            <a:r>
              <a:rPr lang="ru-RU" b="1" dirty="0"/>
              <a:t>Разработка бизнес-кейса:</a:t>
            </a:r>
            <a:r>
              <a:rPr lang="ru-RU" dirty="0"/>
              <a:t> Подготовить экономическое обоснование решения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657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C8696-62DE-73E3-FFC6-A9CF6CB1F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6BDB5-7C7E-DDDA-9692-C2846450E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Задача 2: Модель предсказания хитов </a:t>
            </a:r>
          </a:p>
          <a:p>
            <a:r>
              <a:rPr lang="ru-RU" b="1" dirty="0"/>
              <a:t>Определение целевой переменной:</a:t>
            </a:r>
            <a:r>
              <a:rPr lang="ru-RU" dirty="0"/>
              <a:t> Сформировать таргет для бинарной классификации на основе порога </a:t>
            </a:r>
          </a:p>
          <a:p>
            <a:r>
              <a:rPr lang="ru-RU" b="1" dirty="0"/>
              <a:t>Выбор и обучение моделей:</a:t>
            </a:r>
            <a:r>
              <a:rPr lang="ru-RU" dirty="0"/>
              <a:t> Настроить baseline-модели и обучить ансамбли или нейросети </a:t>
            </a:r>
          </a:p>
          <a:p>
            <a:r>
              <a:rPr lang="ru-RU" b="1" dirty="0"/>
              <a:t>Валидация и оценка качества:</a:t>
            </a:r>
            <a:r>
              <a:rPr lang="ru-RU" dirty="0"/>
              <a:t> Оценить классификатор с помощью метрик F1-score, ROC-AUC и матрицы ошибок </a:t>
            </a:r>
          </a:p>
          <a:p>
            <a:r>
              <a:rPr lang="ru-RU" b="1" dirty="0"/>
              <a:t>Продуктовая интеграция:</a:t>
            </a:r>
            <a:r>
              <a:rPr lang="ru-RU" dirty="0"/>
              <a:t> Сформулировать идеи для бизнеса на основе полученной точности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88C99-A7CD-836C-664A-3C4488171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F92F4-C6BA-A968-5834-23B4EDDF2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Задача 4: Анализ временных рядов и прогнозирование трендов </a:t>
            </a:r>
          </a:p>
          <a:p>
            <a:r>
              <a:rPr lang="ru-RU" b="1" dirty="0"/>
              <a:t>Прогнозирование динамики:</a:t>
            </a:r>
            <a:r>
              <a:rPr lang="ru-RU" dirty="0"/>
              <a:t> Построить модели временных рядов для предсказания будущих значений аудиофич </a:t>
            </a:r>
          </a:p>
          <a:p>
            <a:r>
              <a:rPr lang="ru-RU" b="1" dirty="0"/>
              <a:t>Определение музыкальных эр:</a:t>
            </a:r>
            <a:r>
              <a:rPr lang="ru-RU" dirty="0"/>
              <a:t> Объединить результаты кластеризации настроений, классификации жанров и предсказания хитов с временным контекстом для прогнозирования параметров следующей </a:t>
            </a:r>
            <a:r>
              <a:rPr lang="en-US" dirty="0"/>
              <a:t>“</a:t>
            </a:r>
            <a:r>
              <a:rPr lang="ru-RU" dirty="0"/>
              <a:t>музыкальной эпохи</a:t>
            </a:r>
            <a:r>
              <a:rPr lang="en-US" dirty="0"/>
              <a:t>”</a:t>
            </a:r>
            <a:r>
              <a:rPr lang="ru-RU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484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01756-C453-6701-4041-71F941D09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Бонусная задача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DA152-ABCD-7EEF-102A-5D26F7E0F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Бонусное задание: Рекомендательный движок </a:t>
            </a:r>
          </a:p>
          <a:p>
            <a:r>
              <a:rPr lang="ru-RU" b="1" dirty="0"/>
              <a:t>Разработка алгоритма:</a:t>
            </a:r>
            <a:r>
              <a:rPr lang="ru-RU" dirty="0"/>
              <a:t> Создать простую систему рекомендаций, вычисляющую близость объектов по вектору аудио-признаков трека. </a:t>
            </a:r>
          </a:p>
          <a:p>
            <a:r>
              <a:rPr lang="ru-RU" b="1" dirty="0"/>
              <a:t>Тестирование и демонстрация:</a:t>
            </a:r>
            <a:r>
              <a:rPr lang="ru-RU" dirty="0"/>
              <a:t> Написать скрипт для инференса рекомендательной системы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692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94F48-2376-0EEC-4251-F01E917F3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Полученные результаты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C4B1B-3472-9BAD-F915-F84B75653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Решили задачу 3 по классификации жанров в зависимости от музыкальных характеристик трека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Проблема</a:t>
            </a:r>
            <a:r>
              <a:rPr lang="en-US" dirty="0"/>
              <a:t>: 86 </a:t>
            </a:r>
            <a:r>
              <a:rPr lang="ru-RU" dirty="0"/>
              <a:t>классов – просто </a:t>
            </a:r>
            <a:r>
              <a:rPr lang="en-US" dirty="0" err="1"/>
              <a:t>CatBoost</a:t>
            </a:r>
            <a:r>
              <a:rPr lang="en-US" dirty="0"/>
              <a:t> </a:t>
            </a:r>
            <a:r>
              <a:rPr lang="ru-RU" dirty="0"/>
              <a:t>не справляется с минорными классами из-за  использования нешлубоких и симметричных деревьев </a:t>
            </a:r>
            <a:r>
              <a:rPr lang="en-US" dirty="0"/>
              <a:t>=&gt; </a:t>
            </a:r>
            <a:r>
              <a:rPr lang="ru-RU" dirty="0"/>
              <a:t>нужна еще модель для минорных классов</a:t>
            </a:r>
            <a:r>
              <a:rPr lang="en-US" dirty="0"/>
              <a:t> =&gt; </a:t>
            </a:r>
            <a:r>
              <a:rPr lang="ru-RU" dirty="0"/>
              <a:t>используем стэкинг ансамбль (лог рег с откалиброванными вероятностями поверх сырых вероятностей от </a:t>
            </a:r>
            <a:r>
              <a:rPr lang="en-US" dirty="0" err="1"/>
              <a:t>CatBoost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LightGBM</a:t>
            </a:r>
            <a:r>
              <a:rPr lang="ru-RU" dirty="0"/>
              <a:t>)</a:t>
            </a:r>
            <a:r>
              <a:rPr lang="en-US" dirty="0"/>
              <a:t>. </a:t>
            </a:r>
            <a:r>
              <a:rPr lang="en-US" dirty="0" err="1"/>
              <a:t>CatBoost</a:t>
            </a:r>
            <a:r>
              <a:rPr lang="en-US" dirty="0"/>
              <a:t> </a:t>
            </a:r>
            <a:r>
              <a:rPr lang="ru-RU" dirty="0"/>
              <a:t>для генерализации выборки</a:t>
            </a:r>
            <a:r>
              <a:rPr lang="en-US" dirty="0"/>
              <a:t>, </a:t>
            </a:r>
            <a:r>
              <a:rPr lang="en-US" dirty="0" err="1"/>
              <a:t>LightGBM</a:t>
            </a:r>
            <a:r>
              <a:rPr lang="en-US" dirty="0"/>
              <a:t> </a:t>
            </a:r>
            <a:r>
              <a:rPr lang="ru-RU" dirty="0"/>
              <a:t>для </a:t>
            </a:r>
            <a:r>
              <a:rPr lang="en-US" dirty="0"/>
              <a:t>“</a:t>
            </a:r>
            <a:r>
              <a:rPr lang="ru-RU" dirty="0"/>
              <a:t>отлова</a:t>
            </a:r>
            <a:r>
              <a:rPr lang="en-US" dirty="0"/>
              <a:t>”</a:t>
            </a:r>
            <a:r>
              <a:rPr lang="ru-RU" dirty="0"/>
              <a:t> минорных классов</a:t>
            </a:r>
          </a:p>
        </p:txBody>
      </p:sp>
    </p:spTree>
    <p:extLst>
      <p:ext uri="{BB962C8B-B14F-4D97-AF65-F5344CB8AC3E}">
        <p14:creationId xmlns:p14="http://schemas.microsoft.com/office/powerpoint/2010/main" val="890087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D7C42-3BD3-6995-400B-115D95C3B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Полученные результаты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E6E42-EC97-7366-5F18-A08DFEC15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CatBoost</a:t>
            </a:r>
            <a:r>
              <a:rPr lang="en-US" dirty="0"/>
              <a:t>: </a:t>
            </a:r>
            <a:r>
              <a:rPr lang="ru-RU" dirty="0"/>
              <a:t>учим на кросс-энтропию</a:t>
            </a:r>
            <a:r>
              <a:rPr lang="en-US" dirty="0"/>
              <a:t>, </a:t>
            </a:r>
            <a:r>
              <a:rPr lang="ru-RU" dirty="0"/>
              <a:t>оцениваем макро </a:t>
            </a:r>
            <a:r>
              <a:rPr lang="en-US" dirty="0"/>
              <a:t>F1</a:t>
            </a:r>
            <a:r>
              <a:rPr lang="ru-RU" dirty="0"/>
              <a:t> классификации</a:t>
            </a:r>
            <a:r>
              <a:rPr lang="en-US" dirty="0"/>
              <a:t> (</a:t>
            </a:r>
            <a:r>
              <a:rPr lang="ru-RU" dirty="0"/>
              <a:t>хорошо подходит для задачи с большим количеством классов</a:t>
            </a:r>
            <a:r>
              <a:rPr lang="en-US" dirty="0"/>
              <a:t>)</a:t>
            </a:r>
            <a:endParaRPr lang="ru-RU" dirty="0"/>
          </a:p>
          <a:p>
            <a:r>
              <a:rPr lang="en-US" dirty="0" err="1"/>
              <a:t>LightGBM</a:t>
            </a:r>
            <a:r>
              <a:rPr lang="en-US" dirty="0"/>
              <a:t>: </a:t>
            </a:r>
            <a:r>
              <a:rPr lang="ru-RU" dirty="0"/>
              <a:t>также учим на кросс-энтропию</a:t>
            </a:r>
            <a:r>
              <a:rPr lang="en-US" dirty="0"/>
              <a:t>, </a:t>
            </a:r>
            <a:r>
              <a:rPr lang="ru-RU" dirty="0"/>
              <a:t>при этом разрешаем очень глубокие деревья (для минорных классов)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85BDE7-D271-9065-D2BD-709C367E0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144" y="4170491"/>
            <a:ext cx="6096000" cy="21391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D5A35C-6603-A1EF-EF4E-E56150E91492}"/>
              </a:ext>
            </a:extLst>
          </p:cNvPr>
          <p:cNvSpPr txBox="1"/>
          <p:nvPr/>
        </p:nvSpPr>
        <p:spPr>
          <a:xfrm>
            <a:off x="8191500" y="4191000"/>
            <a:ext cx="3302000" cy="20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Использование ансамбля позволило улучшить </a:t>
            </a:r>
            <a:r>
              <a:rPr lang="en-US" dirty="0"/>
              <a:t>F1 </a:t>
            </a:r>
            <a:r>
              <a:rPr lang="ru-RU" dirty="0"/>
              <a:t>для большинства классов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980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72E20-9CAA-C488-0E01-AEA114C29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Полученные результаты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C03D9-28D0-C2CA-6479-6630AFF37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Интерпретируем полученный ансамбль</a:t>
            </a:r>
            <a:r>
              <a:rPr lang="en-US" dirty="0"/>
              <a:t> </a:t>
            </a:r>
            <a:r>
              <a:rPr lang="ru-RU" dirty="0"/>
              <a:t>с помощью </a:t>
            </a:r>
            <a:r>
              <a:rPr lang="en-US" dirty="0" err="1"/>
              <a:t>Shap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71D5BF-A224-46DF-638B-30F531F8D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59" y="2932046"/>
            <a:ext cx="6396460" cy="2421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0007FF-7B63-D5B8-2E80-173F79401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947" y="3062288"/>
            <a:ext cx="5356478" cy="225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139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2FA9A7-3F93-BC9C-A049-53C30ED26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0F9CE-ADF8-CA1A-6228-A166C367E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 промежуточными результатами можно ознакомиться в открытом репозитории на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253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8963051606]">
  <a:themeElements>
    <a:clrScheme name="Office">
      <a:dk1>
        <a:srgbClr val="0F2A44"/>
      </a:dk1>
      <a:lt1>
        <a:srgbClr val="F4F9FD"/>
      </a:lt1>
      <a:dk2>
        <a:srgbClr val="1F4E79"/>
      </a:dk2>
      <a:lt2>
        <a:srgbClr val="DCEBF7"/>
      </a:lt2>
      <a:accent1>
        <a:srgbClr val="2E86C1"/>
      </a:accent1>
      <a:accent2>
        <a:srgbClr val="5DADE2"/>
      </a:accent2>
      <a:accent3>
        <a:srgbClr val="85C1E9"/>
      </a:accent3>
      <a:accent4>
        <a:srgbClr val="AED6F1"/>
      </a:accent4>
      <a:accent5>
        <a:srgbClr val="1B4F72"/>
      </a:accent5>
      <a:accent6>
        <a:srgbClr val="F39C12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1E12E32-8078-44BE-9FA7-E4B12290CE75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e726a48f-fa66-40e8-8235-6306fcfa348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357</Words>
  <Application>Microsoft Office PowerPoint</Application>
  <PresentationFormat>Widescreen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 [1778963051606]</vt:lpstr>
      <vt:lpstr>School of Analytics 2026</vt:lpstr>
      <vt:lpstr>Планируемые результаты</vt:lpstr>
      <vt:lpstr>Задача 1</vt:lpstr>
      <vt:lpstr>Задача 2</vt:lpstr>
      <vt:lpstr>Задача 4</vt:lpstr>
      <vt:lpstr>Бонусная задача</vt:lpstr>
      <vt:lpstr>Полученные результаты</vt:lpstr>
      <vt:lpstr>Полученные результаты</vt:lpstr>
      <vt:lpstr>Полученные результаты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Kaa</dc:creator>
  <cp:lastModifiedBy>Alex Kaa</cp:lastModifiedBy>
  <cp:revision>36</cp:revision>
  <dcterms:created xsi:type="dcterms:W3CDTF">2026-05-16T18:26:21Z</dcterms:created>
  <dcterms:modified xsi:type="dcterms:W3CDTF">2026-05-16T20:25:35Z</dcterms:modified>
</cp:coreProperties>
</file>